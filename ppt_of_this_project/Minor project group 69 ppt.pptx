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6256000" cy="9144000"/>
  <p:notesSz cx="9144000" cy="16256000"/>
  <p:embeddedFontLst>
    <p:embeddedFont>
      <p:font typeface="Quattrocento Sans" charset="-122" pitchFamily="34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image" Target="../media/image-15-3.jpeg"/><Relationship Id="rId4" Type="http://schemas.openxmlformats.org/officeDocument/2006/relationships/image" Target="../media/image-1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01600"/>
          </a:xfrm>
          <a:prstGeom prst="rect">
            <a:avLst/>
          </a:prstGeom>
          <a:solidFill>
            <a:srgbClr val="2A6B6B"/>
          </a:solidFill>
          <a:ln/>
        </p:spPr>
      </p:sp>
      <p:pic>
        <p:nvPicPr>
          <p:cNvPr id="3" name="Image 0" descr="https://kimi-img.moonshot.cn/pub/slides/okc/gnlesqjpbn4mk/mnt/agents/output/smart_room_ppt/images/image1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12000" y="508000"/>
            <a:ext cx="2032000" cy="2032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58000" y="2921000"/>
            <a:ext cx="2540000" cy="5080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3175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3600" b="1" dirty="0">
                <a:solidFill>
                  <a:srgbClr val="1B1F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Smart Room Activity Monitoring and Behavior Analysis</a:t>
            </a:r>
            <a:endParaRPr lang="en-US" sz="2800" dirty="0"/>
          </a:p>
          <a:p>
            <a:pPr algn="ctr">
              <a:lnSpc>
                <a:spcPct val="140000"/>
              </a:lnSpc>
            </a:pPr>
            <a:r>
              <a:rPr lang="en-US" sz="3600" b="1" dirty="0">
                <a:solidFill>
                  <a:srgbClr val="1B1F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using ESP32 and Machine Learning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3683000" y="4953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Minor Project Report | April 2026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23000" y="5715000"/>
            <a:ext cx="3810000" cy="25400"/>
          </a:xfrm>
          <a:prstGeom prst="rect">
            <a:avLst/>
          </a:prstGeom>
          <a:solidFill>
            <a:srgbClr val="D1CFC7"/>
          </a:solidFill>
          <a:ln/>
        </p:spPr>
      </p:sp>
      <p:sp>
        <p:nvSpPr>
          <p:cNvPr id="8" name="Text 5"/>
          <p:cNvSpPr/>
          <p:nvPr/>
        </p:nvSpPr>
        <p:spPr>
          <a:xfrm>
            <a:off x="3048000" y="5969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Hariom Yadav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(23U02083)   |  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Sardul V Pandey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(23U02092)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 the supervision of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Dr. Priyankar Choudhary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048000" y="7239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Department of Computer Science and Engineering</a:t>
            </a:r>
            <a:endParaRPr lang="en-US" sz="14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Indian Institute of Information Technology, Bhopal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spc="400" kern="0" dirty="0">
                <a:solidFill>
                  <a:srgbClr val="1B1F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175000"/>
            <a:ext cx="1016000" cy="5080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429000"/>
            <a:ext cx="508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 overview of the project presentation covering introduction, literature, methodology, results, and conclusion.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1778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2A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47000" y="1778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1F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0" y="2540000"/>
            <a:ext cx="7874000" cy="12700"/>
          </a:xfrm>
          <a:prstGeom prst="rect">
            <a:avLst/>
          </a:prstGeom>
          <a:solidFill>
            <a:srgbClr val="D1CFC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2794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2A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47000" y="2794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1F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0" y="3556000"/>
            <a:ext cx="7874000" cy="12700"/>
          </a:xfrm>
          <a:prstGeom prst="rect">
            <a:avLst/>
          </a:prstGeom>
          <a:solidFill>
            <a:srgbClr val="D1CFC7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3810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2A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47000" y="3810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1F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0" y="4572000"/>
            <a:ext cx="7874000" cy="12700"/>
          </a:xfrm>
          <a:prstGeom prst="rect">
            <a:avLst/>
          </a:prstGeom>
          <a:solidFill>
            <a:srgbClr val="D1CFC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4826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2A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47000" y="4826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1F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Analysis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0" y="5588000"/>
            <a:ext cx="7874000" cy="12700"/>
          </a:xfrm>
          <a:prstGeom prst="rect">
            <a:avLst/>
          </a:prstGeom>
          <a:solidFill>
            <a:srgbClr val="D1CFC7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5842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2A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47000" y="5842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1F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 &amp; Future Scope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0" y="6604000"/>
            <a:ext cx="7874000" cy="12700"/>
          </a:xfrm>
          <a:prstGeom prst="rect">
            <a:avLst/>
          </a:prstGeom>
          <a:solidFill>
            <a:srgbClr val="D1CFC7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b="1" dirty="0">
                <a:solidFill>
                  <a:srgbClr val="FFFFFF">
                    <a:alpha val="1254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4572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5461000"/>
            <a:ext cx="1016000" cy="5080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571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Background, motivation, problem statement, objectives, and system overview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1F4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143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  |   LITERATURE   |   METHODOLOGY   |   RESULTS   |   CONCLUSION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406400"/>
            <a:ext cx="1397000" cy="5080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1F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Background &amp; Motivation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270000"/>
            <a:ext cx="762000" cy="5080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5240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A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006600"/>
            <a:ext cx="711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IoT enables real-time smart monitoring in homes and healthcare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Cameras raise privacy concerns; wearables need user cooperation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Sensor-based systems using ESP32 are simple and non-invasive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Multiple sensors capture motion, light, temperature, humidity, distance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38100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A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2926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Need for low-cost, real-time, privacy-friendly monitoring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Existing solutions use expensive hardware or controlled environments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Pre-collected datasets often fail to match real-world conditions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Goal: bridge hardware and intelligent data analysis with real-time data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Convert raw sensor data into meaningful insights and behavior patterns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82000" y="1524000"/>
            <a:ext cx="7112000" cy="6731000"/>
          </a:xfrm>
          <a:prstGeom prst="rect">
            <a:avLst/>
          </a:prstGeom>
          <a:solidFill>
            <a:srgbClr val="EAE8E1"/>
          </a:solidFill>
          <a:ln/>
        </p:spPr>
      </p:sp>
      <p:sp>
        <p:nvSpPr>
          <p:cNvPr id="12" name="Text 10"/>
          <p:cNvSpPr/>
          <p:nvPr/>
        </p:nvSpPr>
        <p:spPr>
          <a:xfrm>
            <a:off x="8763000" y="1778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1F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Focus Areas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763000" y="2260600"/>
            <a:ext cx="6350000" cy="25400"/>
          </a:xfrm>
          <a:prstGeom prst="rect">
            <a:avLst/>
          </a:prstGeom>
          <a:solidFill>
            <a:srgbClr val="D1CFC7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0" y="2476500"/>
            <a:ext cx="6350000" cy="546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2A6B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IoT Integration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ESP32 connects sensors to cloud via WiFi for continuous data collection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400"/>
              </a:spcBef>
            </a:pPr>
            <a:r>
              <a:rPr lang="en-US" sz="1800" b="1" dirty="0">
                <a:solidFill>
                  <a:srgbClr val="2A6B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Real-Time Dataset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stored in Google Sheets with timestamps for realistic analysis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400"/>
              </a:spcBef>
            </a:pPr>
            <a:r>
              <a:rPr lang="en-US" sz="1800" b="1" dirty="0">
                <a:solidFill>
                  <a:srgbClr val="2A6B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Machine Learning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Random Forest model classifies activities from sensor patterns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400"/>
              </a:spcBef>
            </a:pPr>
            <a:r>
              <a:rPr lang="en-US" sz="1800" b="1" dirty="0">
                <a:solidFill>
                  <a:srgbClr val="2A6B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Behavior Analysis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Graphs reveal daily routines, sleep patterns, and activity trends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1F4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143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  |   LITERATURE   |   METHODOLOGY   |   RESULTS   |   CONCLUSION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406400"/>
            <a:ext cx="1397000" cy="5080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7112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1F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Problem Statement &amp; Objectives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270000"/>
            <a:ext cx="762000" cy="5080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5240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A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0320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Accurate activity identification from noisy real-world sensor data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Fixed thresholds fail for varying human behavior and conditions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Motion alone cannot distinguish sitting, resting, or slow movement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Need for continuous, independent data collection without a laptop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Challenge: integrate hardware and software simply and reliably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48260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A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5334000"/>
            <a:ext cx="1473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Design a sensor-based system for real-time data collection using ESP32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Connect ESP32 to WiFi and transmit data to Google Sheets cloud platform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Create a structured dataset with timestamps from actual sensor readings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Preprocess data and train a machine learning model for activity classification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Classify activities: Bed, Chair, Kitchen, and Outside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Analyze behavior patterns using time-based graphs and visualizations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1524000"/>
          <a:ext cx="7112000" cy="3048000"/>
        </p:xfrm>
        <a:graphic>
          <a:graphicData uri="http://schemas.openxmlformats.org/drawingml/2006/table">
            <a:tbl>
              <a:tblPr/>
              <a:tblGrid>
                <a:gridCol w="2489200"/>
                <a:gridCol w="462280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Activity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4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Person lying or resting on bed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Chair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Person sitting on chair or table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Kitchen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Person present near kitchen area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Outside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Person not present in room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1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1F4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143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  |   LITERATURE   |   METHODOLOGY   |   RESULTS   |   CONCLUSION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406400"/>
            <a:ext cx="1397000" cy="5080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1F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Proposed System Overview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270000"/>
            <a:ext cx="762000" cy="5080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524000"/>
            <a:ext cx="6858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Three Main Components: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A6B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Sensor Unit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PIR, LDR, DHT22, Ultrasonic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A6B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Processing Unit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ESP32 with built-in WiFi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A6B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Cloud &amp; ML Unit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Google Sheets + Python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Workflow: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Sensors → ESP32 → WiFi → Google Sheets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→ Dataset → ML Model → Prediction → Graphs</a:t>
            </a:r>
            <a:endParaRPr lang="en-US" sz="1800" dirty="0"/>
          </a:p>
        </p:txBody>
      </p:sp>
      <p:pic>
        <p:nvPicPr>
          <p:cNvPr id="8" name="Image 0" descr="https://kimi-img.moonshot.cn/pub/slides/okc/gnlesqjpbn4mk/mnt/agents/output/smart_room_ppt/images/image4.png">    </p:cNvPr>
          <p:cNvPicPr>
            <a:picLocks noChangeAspect="1"/>
          </p:cNvPicPr>
          <p:nvPr/>
        </p:nvPicPr>
        <p:blipFill>
          <a:blip r:embed="rId1"/>
          <a:srcRect l="-11099" r="-11099" t="0" b="0"/>
          <a:stretch/>
        </p:blipFill>
        <p:spPr>
          <a:xfrm>
            <a:off x="8128000" y="1524000"/>
            <a:ext cx="7366000" cy="3302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2000" y="5080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A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the System Detects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2000" y="5651500"/>
            <a:ext cx="3429000" cy="1270000"/>
          </a:xfrm>
          <a:prstGeom prst="rect">
            <a:avLst/>
          </a:prstGeom>
          <a:solidFill>
            <a:srgbClr val="EAE8E1"/>
          </a:solidFill>
          <a:ln/>
        </p:spPr>
      </p:sp>
      <p:sp>
        <p:nvSpPr>
          <p:cNvPr id="11" name="Shape 8"/>
          <p:cNvSpPr/>
          <p:nvPr/>
        </p:nvSpPr>
        <p:spPr>
          <a:xfrm>
            <a:off x="993775" y="5816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2225" y="22225"/>
                </a:moveTo>
                <a:cubicBezTo>
                  <a:pt x="34518" y="22225"/>
                  <a:pt x="44450" y="32157"/>
                  <a:pt x="44450" y="44450"/>
                </a:cubicBezTo>
                <a:lnTo>
                  <a:pt x="44450" y="200025"/>
                </a:lnTo>
                <a:lnTo>
                  <a:pt x="200025" y="200025"/>
                </a:lnTo>
                <a:lnTo>
                  <a:pt x="200025" y="111125"/>
                </a:lnTo>
                <a:cubicBezTo>
                  <a:pt x="200025" y="98832"/>
                  <a:pt x="209957" y="88900"/>
                  <a:pt x="222250" y="88900"/>
                </a:cubicBezTo>
                <a:lnTo>
                  <a:pt x="333375" y="88900"/>
                </a:lnTo>
                <a:cubicBezTo>
                  <a:pt x="370185" y="88900"/>
                  <a:pt x="400050" y="118765"/>
                  <a:pt x="400050" y="155575"/>
                </a:cubicBezTo>
                <a:lnTo>
                  <a:pt x="400050" y="311150"/>
                </a:lnTo>
                <a:cubicBezTo>
                  <a:pt x="400050" y="323443"/>
                  <a:pt x="390118" y="333375"/>
                  <a:pt x="377825" y="333375"/>
                </a:cubicBezTo>
                <a:cubicBezTo>
                  <a:pt x="365532" y="333375"/>
                  <a:pt x="355600" y="323443"/>
                  <a:pt x="355600" y="311150"/>
                </a:cubicBezTo>
                <a:lnTo>
                  <a:pt x="355600" y="266700"/>
                </a:lnTo>
                <a:lnTo>
                  <a:pt x="44450" y="266700"/>
                </a:lnTo>
                <a:lnTo>
                  <a:pt x="44450" y="311150"/>
                </a:lnTo>
                <a:cubicBezTo>
                  <a:pt x="44450" y="323443"/>
                  <a:pt x="34518" y="333375"/>
                  <a:pt x="22225" y="333375"/>
                </a:cubicBezTo>
                <a:cubicBezTo>
                  <a:pt x="9932" y="333375"/>
                  <a:pt x="0" y="323443"/>
                  <a:pt x="0" y="311150"/>
                </a:cubicBezTo>
                <a:lnTo>
                  <a:pt x="0" y="44450"/>
                </a:lnTo>
                <a:cubicBezTo>
                  <a:pt x="0" y="32157"/>
                  <a:pt x="9932" y="22225"/>
                  <a:pt x="22225" y="22225"/>
                </a:cubicBezTo>
                <a:close/>
                <a:moveTo>
                  <a:pt x="77788" y="133350"/>
                </a:moveTo>
                <a:cubicBezTo>
                  <a:pt x="77788" y="108817"/>
                  <a:pt x="97705" y="88900"/>
                  <a:pt x="122238" y="88900"/>
                </a:cubicBezTo>
                <a:cubicBezTo>
                  <a:pt x="146770" y="88900"/>
                  <a:pt x="166688" y="108817"/>
                  <a:pt x="166688" y="133350"/>
                </a:cubicBezTo>
                <a:cubicBezTo>
                  <a:pt x="166688" y="157883"/>
                  <a:pt x="146770" y="177800"/>
                  <a:pt x="122238" y="177800"/>
                </a:cubicBezTo>
                <a:cubicBezTo>
                  <a:pt x="97705" y="177800"/>
                  <a:pt x="77788" y="157883"/>
                  <a:pt x="77788" y="133350"/>
                </a:cubicBezTo>
                <a:close/>
              </a:path>
            </a:pathLst>
          </a:custGeom>
          <a:solidFill>
            <a:srgbClr val="2A6B6B"/>
          </a:solidFill>
          <a:ln/>
        </p:spPr>
      </p:sp>
      <p:sp>
        <p:nvSpPr>
          <p:cNvPr id="12" name="Text 9"/>
          <p:cNvSpPr/>
          <p:nvPr/>
        </p:nvSpPr>
        <p:spPr>
          <a:xfrm>
            <a:off x="1498600" y="57785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Bed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motion, stable distance, lights off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445000" y="5651500"/>
            <a:ext cx="3429000" cy="1270000"/>
          </a:xfrm>
          <a:prstGeom prst="rect">
            <a:avLst/>
          </a:prstGeom>
          <a:solidFill>
            <a:srgbClr val="EAE8E1"/>
          </a:solidFill>
          <a:ln/>
        </p:spPr>
      </p:sp>
      <p:sp>
        <p:nvSpPr>
          <p:cNvPr id="14" name="Shape 11"/>
          <p:cNvSpPr/>
          <p:nvPr/>
        </p:nvSpPr>
        <p:spPr>
          <a:xfrm>
            <a:off x="4721225" y="5816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05569" y="177800"/>
                </a:moveTo>
                <a:lnTo>
                  <a:pt x="105569" y="51534"/>
                </a:lnTo>
                <a:cubicBezTo>
                  <a:pt x="88553" y="65772"/>
                  <a:pt x="77788" y="87233"/>
                  <a:pt x="77788" y="111125"/>
                </a:cubicBezTo>
                <a:lnTo>
                  <a:pt x="77788" y="177800"/>
                </a:lnTo>
                <a:lnTo>
                  <a:pt x="105569" y="177800"/>
                </a:lnTo>
                <a:close/>
                <a:moveTo>
                  <a:pt x="138906" y="177800"/>
                </a:moveTo>
                <a:lnTo>
                  <a:pt x="172244" y="177800"/>
                </a:lnTo>
                <a:lnTo>
                  <a:pt x="172244" y="35143"/>
                </a:lnTo>
                <a:cubicBezTo>
                  <a:pt x="166896" y="33963"/>
                  <a:pt x="161270" y="33337"/>
                  <a:pt x="155575" y="33337"/>
                </a:cubicBezTo>
                <a:cubicBezTo>
                  <a:pt x="149880" y="33337"/>
                  <a:pt x="144254" y="33963"/>
                  <a:pt x="138906" y="35143"/>
                </a:cubicBezTo>
                <a:lnTo>
                  <a:pt x="138906" y="177800"/>
                </a:lnTo>
                <a:close/>
                <a:moveTo>
                  <a:pt x="205581" y="51534"/>
                </a:moveTo>
                <a:lnTo>
                  <a:pt x="205581" y="177800"/>
                </a:lnTo>
                <a:lnTo>
                  <a:pt x="233363" y="177800"/>
                </a:lnTo>
                <a:lnTo>
                  <a:pt x="233363" y="111125"/>
                </a:lnTo>
                <a:cubicBezTo>
                  <a:pt x="233363" y="87233"/>
                  <a:pt x="222597" y="65842"/>
                  <a:pt x="205581" y="51534"/>
                </a:cubicBezTo>
                <a:close/>
                <a:moveTo>
                  <a:pt x="22225" y="177800"/>
                </a:moveTo>
                <a:lnTo>
                  <a:pt x="44450" y="177800"/>
                </a:lnTo>
                <a:lnTo>
                  <a:pt x="44450" y="111125"/>
                </a:lnTo>
                <a:cubicBezTo>
                  <a:pt x="44450" y="49728"/>
                  <a:pt x="94178" y="0"/>
                  <a:pt x="155575" y="0"/>
                </a:cubicBezTo>
                <a:cubicBezTo>
                  <a:pt x="216972" y="0"/>
                  <a:pt x="266700" y="49728"/>
                  <a:pt x="266700" y="111125"/>
                </a:cubicBezTo>
                <a:lnTo>
                  <a:pt x="266700" y="177800"/>
                </a:lnTo>
                <a:lnTo>
                  <a:pt x="288925" y="177800"/>
                </a:lnTo>
                <a:cubicBezTo>
                  <a:pt x="301218" y="177800"/>
                  <a:pt x="311150" y="187732"/>
                  <a:pt x="311150" y="200025"/>
                </a:cubicBezTo>
                <a:lnTo>
                  <a:pt x="311150" y="244475"/>
                </a:lnTo>
                <a:cubicBezTo>
                  <a:pt x="311150" y="256768"/>
                  <a:pt x="301218" y="266700"/>
                  <a:pt x="288925" y="266700"/>
                </a:cubicBezTo>
                <a:lnTo>
                  <a:pt x="288925" y="333375"/>
                </a:lnTo>
                <a:cubicBezTo>
                  <a:pt x="288925" y="345668"/>
                  <a:pt x="278993" y="355600"/>
                  <a:pt x="266700" y="355600"/>
                </a:cubicBezTo>
                <a:cubicBezTo>
                  <a:pt x="254407" y="355600"/>
                  <a:pt x="244475" y="345668"/>
                  <a:pt x="244475" y="333375"/>
                </a:cubicBezTo>
                <a:lnTo>
                  <a:pt x="244475" y="266700"/>
                </a:lnTo>
                <a:lnTo>
                  <a:pt x="66675" y="266700"/>
                </a:lnTo>
                <a:lnTo>
                  <a:pt x="66675" y="333375"/>
                </a:lnTo>
                <a:cubicBezTo>
                  <a:pt x="66675" y="345668"/>
                  <a:pt x="56743" y="355600"/>
                  <a:pt x="44450" y="355600"/>
                </a:cubicBezTo>
                <a:cubicBezTo>
                  <a:pt x="32157" y="355600"/>
                  <a:pt x="22225" y="345668"/>
                  <a:pt x="22225" y="333375"/>
                </a:cubicBezTo>
                <a:lnTo>
                  <a:pt x="22225" y="266700"/>
                </a:lnTo>
                <a:cubicBezTo>
                  <a:pt x="9932" y="266700"/>
                  <a:pt x="0" y="256768"/>
                  <a:pt x="0" y="244475"/>
                </a:cubicBezTo>
                <a:lnTo>
                  <a:pt x="0" y="200025"/>
                </a:lnTo>
                <a:cubicBezTo>
                  <a:pt x="0" y="187732"/>
                  <a:pt x="9932" y="177800"/>
                  <a:pt x="22225" y="177800"/>
                </a:cubicBezTo>
                <a:close/>
              </a:path>
            </a:pathLst>
          </a:custGeom>
          <a:solidFill>
            <a:srgbClr val="2A6B6B"/>
          </a:solidFill>
          <a:ln/>
        </p:spPr>
      </p:sp>
      <p:sp>
        <p:nvSpPr>
          <p:cNvPr id="15" name="Text 12"/>
          <p:cNvSpPr/>
          <p:nvPr/>
        </p:nvSpPr>
        <p:spPr>
          <a:xfrm>
            <a:off x="5181600" y="57785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Chair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 motion, varying distance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128000" y="5651500"/>
            <a:ext cx="3429000" cy="1270000"/>
          </a:xfrm>
          <a:prstGeom prst="rect">
            <a:avLst/>
          </a:prstGeom>
          <a:solidFill>
            <a:srgbClr val="EAE8E1"/>
          </a:solidFill>
          <a:ln/>
        </p:spPr>
      </p:sp>
      <p:sp>
        <p:nvSpPr>
          <p:cNvPr id="17" name="Shape 14"/>
          <p:cNvSpPr/>
          <p:nvPr/>
        </p:nvSpPr>
        <p:spPr>
          <a:xfrm>
            <a:off x="8382000" y="5816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381" y="10001"/>
                </a:moveTo>
                <a:cubicBezTo>
                  <a:pt x="43825" y="4306"/>
                  <a:pt x="39033" y="0"/>
                  <a:pt x="33337" y="0"/>
                </a:cubicBezTo>
                <a:cubicBezTo>
                  <a:pt x="27642" y="0"/>
                  <a:pt x="22850" y="4306"/>
                  <a:pt x="22225" y="9932"/>
                </a:cubicBezTo>
                <a:lnTo>
                  <a:pt x="12432" y="103971"/>
                </a:lnTo>
                <a:cubicBezTo>
                  <a:pt x="11529" y="108139"/>
                  <a:pt x="11112" y="112375"/>
                  <a:pt x="11112" y="116612"/>
                </a:cubicBezTo>
                <a:cubicBezTo>
                  <a:pt x="11112" y="148491"/>
                  <a:pt x="35491" y="174675"/>
                  <a:pt x="66675" y="177522"/>
                </a:cubicBezTo>
                <a:lnTo>
                  <a:pt x="66675" y="333375"/>
                </a:lnTo>
                <a:cubicBezTo>
                  <a:pt x="66675" y="345668"/>
                  <a:pt x="76607" y="355600"/>
                  <a:pt x="88900" y="355600"/>
                </a:cubicBezTo>
                <a:cubicBezTo>
                  <a:pt x="101193" y="355600"/>
                  <a:pt x="111125" y="345668"/>
                  <a:pt x="111125" y="333375"/>
                </a:cubicBezTo>
                <a:lnTo>
                  <a:pt x="111125" y="177522"/>
                </a:lnTo>
                <a:cubicBezTo>
                  <a:pt x="142309" y="174675"/>
                  <a:pt x="166688" y="148491"/>
                  <a:pt x="166688" y="116612"/>
                </a:cubicBezTo>
                <a:cubicBezTo>
                  <a:pt x="166688" y="112375"/>
                  <a:pt x="166271" y="108139"/>
                  <a:pt x="165368" y="103971"/>
                </a:cubicBezTo>
                <a:lnTo>
                  <a:pt x="155506" y="9932"/>
                </a:lnTo>
                <a:cubicBezTo>
                  <a:pt x="154950" y="4306"/>
                  <a:pt x="150158" y="0"/>
                  <a:pt x="144463" y="0"/>
                </a:cubicBezTo>
                <a:cubicBezTo>
                  <a:pt x="138767" y="0"/>
                  <a:pt x="133975" y="4306"/>
                  <a:pt x="133419" y="10001"/>
                </a:cubicBezTo>
                <a:lnTo>
                  <a:pt x="123974" y="104110"/>
                </a:lnTo>
                <a:cubicBezTo>
                  <a:pt x="123557" y="108069"/>
                  <a:pt x="120223" y="111125"/>
                  <a:pt x="116265" y="111125"/>
                </a:cubicBezTo>
                <a:cubicBezTo>
                  <a:pt x="112236" y="111125"/>
                  <a:pt x="108903" y="108069"/>
                  <a:pt x="108486" y="104041"/>
                </a:cubicBezTo>
                <a:lnTo>
                  <a:pt x="99943" y="10140"/>
                </a:lnTo>
                <a:cubicBezTo>
                  <a:pt x="99457" y="4376"/>
                  <a:pt x="94665" y="0"/>
                  <a:pt x="88900" y="0"/>
                </a:cubicBezTo>
                <a:cubicBezTo>
                  <a:pt x="83135" y="0"/>
                  <a:pt x="78343" y="4376"/>
                  <a:pt x="77857" y="10140"/>
                </a:cubicBezTo>
                <a:lnTo>
                  <a:pt x="69314" y="104041"/>
                </a:lnTo>
                <a:cubicBezTo>
                  <a:pt x="68967" y="108069"/>
                  <a:pt x="65564" y="111125"/>
                  <a:pt x="61535" y="111125"/>
                </a:cubicBezTo>
                <a:cubicBezTo>
                  <a:pt x="57507" y="111125"/>
                  <a:pt x="54173" y="108069"/>
                  <a:pt x="53826" y="104110"/>
                </a:cubicBezTo>
                <a:lnTo>
                  <a:pt x="44381" y="10001"/>
                </a:lnTo>
                <a:close/>
                <a:moveTo>
                  <a:pt x="311150" y="0"/>
                </a:moveTo>
                <a:cubicBezTo>
                  <a:pt x="300038" y="0"/>
                  <a:pt x="222250" y="22225"/>
                  <a:pt x="222250" y="122238"/>
                </a:cubicBezTo>
                <a:lnTo>
                  <a:pt x="222250" y="200025"/>
                </a:lnTo>
                <a:cubicBezTo>
                  <a:pt x="222250" y="224542"/>
                  <a:pt x="242183" y="244475"/>
                  <a:pt x="266700" y="244475"/>
                </a:cubicBezTo>
                <a:lnTo>
                  <a:pt x="288925" y="244475"/>
                </a:lnTo>
                <a:lnTo>
                  <a:pt x="288925" y="333375"/>
                </a:lnTo>
                <a:cubicBezTo>
                  <a:pt x="288925" y="345668"/>
                  <a:pt x="298857" y="355600"/>
                  <a:pt x="311150" y="355600"/>
                </a:cubicBezTo>
                <a:cubicBezTo>
                  <a:pt x="323443" y="355600"/>
                  <a:pt x="333375" y="345668"/>
                  <a:pt x="333375" y="333375"/>
                </a:cubicBezTo>
                <a:lnTo>
                  <a:pt x="333375" y="22225"/>
                </a:lnTo>
                <a:cubicBezTo>
                  <a:pt x="333375" y="9932"/>
                  <a:pt x="323443" y="0"/>
                  <a:pt x="311150" y="0"/>
                </a:cubicBezTo>
                <a:close/>
              </a:path>
            </a:pathLst>
          </a:custGeom>
          <a:solidFill>
            <a:srgbClr val="2A6B6B"/>
          </a:solidFill>
          <a:ln/>
        </p:spPr>
      </p:sp>
      <p:sp>
        <p:nvSpPr>
          <p:cNvPr id="18" name="Text 15"/>
          <p:cNvSpPr/>
          <p:nvPr/>
        </p:nvSpPr>
        <p:spPr>
          <a:xfrm>
            <a:off x="8864600" y="57785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Kitchen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Specific time + activity pattern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1811000" y="5651500"/>
            <a:ext cx="3429000" cy="1270000"/>
          </a:xfrm>
          <a:prstGeom prst="rect">
            <a:avLst/>
          </a:prstGeom>
          <a:solidFill>
            <a:srgbClr val="EAE8E1"/>
          </a:solidFill>
          <a:ln/>
        </p:spPr>
      </p:sp>
      <p:sp>
        <p:nvSpPr>
          <p:cNvPr id="20" name="Shape 17"/>
          <p:cNvSpPr/>
          <p:nvPr/>
        </p:nvSpPr>
        <p:spPr>
          <a:xfrm>
            <a:off x="12087225" y="5816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00025" y="44450"/>
                </a:moveTo>
                <a:lnTo>
                  <a:pt x="244475" y="44450"/>
                </a:lnTo>
                <a:lnTo>
                  <a:pt x="244475" y="333375"/>
                </a:lnTo>
                <a:cubicBezTo>
                  <a:pt x="244475" y="345668"/>
                  <a:pt x="254407" y="355600"/>
                  <a:pt x="266700" y="355600"/>
                </a:cubicBezTo>
                <a:lnTo>
                  <a:pt x="288925" y="355600"/>
                </a:lnTo>
                <a:cubicBezTo>
                  <a:pt x="301218" y="355600"/>
                  <a:pt x="311150" y="345668"/>
                  <a:pt x="311150" y="333375"/>
                </a:cubicBezTo>
                <a:cubicBezTo>
                  <a:pt x="311150" y="321082"/>
                  <a:pt x="301218" y="311150"/>
                  <a:pt x="288925" y="311150"/>
                </a:cubicBezTo>
                <a:lnTo>
                  <a:pt x="288925" y="44450"/>
                </a:lnTo>
                <a:cubicBezTo>
                  <a:pt x="288925" y="19933"/>
                  <a:pt x="268992" y="0"/>
                  <a:pt x="244475" y="0"/>
                </a:cubicBezTo>
                <a:lnTo>
                  <a:pt x="177800" y="0"/>
                </a:lnTo>
                <a:lnTo>
                  <a:pt x="177800" y="0"/>
                </a:lnTo>
                <a:lnTo>
                  <a:pt x="66675" y="0"/>
                </a:lnTo>
                <a:cubicBezTo>
                  <a:pt x="42158" y="0"/>
                  <a:pt x="22225" y="19933"/>
                  <a:pt x="22225" y="44450"/>
                </a:cubicBezTo>
                <a:lnTo>
                  <a:pt x="22225" y="311150"/>
                </a:lnTo>
                <a:cubicBezTo>
                  <a:pt x="9932" y="311150"/>
                  <a:pt x="0" y="321082"/>
                  <a:pt x="0" y="333375"/>
                </a:cubicBezTo>
                <a:cubicBezTo>
                  <a:pt x="0" y="345668"/>
                  <a:pt x="9932" y="355600"/>
                  <a:pt x="22225" y="355600"/>
                </a:cubicBezTo>
                <a:lnTo>
                  <a:pt x="177800" y="355600"/>
                </a:lnTo>
                <a:cubicBezTo>
                  <a:pt x="190093" y="355600"/>
                  <a:pt x="200025" y="345668"/>
                  <a:pt x="200025" y="333375"/>
                </a:cubicBezTo>
                <a:lnTo>
                  <a:pt x="200025" y="44450"/>
                </a:lnTo>
                <a:close/>
                <a:moveTo>
                  <a:pt x="111125" y="177800"/>
                </a:moveTo>
                <a:cubicBezTo>
                  <a:pt x="111125" y="165534"/>
                  <a:pt x="121084" y="155575"/>
                  <a:pt x="133350" y="155575"/>
                </a:cubicBezTo>
                <a:cubicBezTo>
                  <a:pt x="145616" y="155575"/>
                  <a:pt x="155575" y="165534"/>
                  <a:pt x="155575" y="177800"/>
                </a:cubicBezTo>
                <a:cubicBezTo>
                  <a:pt x="155575" y="190066"/>
                  <a:pt x="145616" y="200025"/>
                  <a:pt x="133350" y="200025"/>
                </a:cubicBezTo>
                <a:cubicBezTo>
                  <a:pt x="121084" y="200025"/>
                  <a:pt x="111125" y="190066"/>
                  <a:pt x="111125" y="177800"/>
                </a:cubicBezTo>
                <a:close/>
              </a:path>
            </a:pathLst>
          </a:custGeom>
          <a:solidFill>
            <a:srgbClr val="2A6B6B"/>
          </a:solidFill>
          <a:ln/>
        </p:spPr>
      </p:sp>
      <p:sp>
        <p:nvSpPr>
          <p:cNvPr id="21" name="Text 18"/>
          <p:cNvSpPr/>
          <p:nvPr/>
        </p:nvSpPr>
        <p:spPr>
          <a:xfrm>
            <a:off x="12547600" y="57785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Outside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sensor activity in room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b="1" dirty="0">
                <a:solidFill>
                  <a:srgbClr val="FFFFFF">
                    <a:alpha val="1254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4572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5461000"/>
            <a:ext cx="1016000" cy="5080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571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Evolution from rule-based systems to IoT and ML integration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1F4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143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  |   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  |   METHODOLOGY   |   RESULTS   |   CONCLUSION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667000" y="406400"/>
            <a:ext cx="1143000" cy="5080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1F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Existing Approaches &amp; Our Solution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270000"/>
            <a:ext cx="762000" cy="50800"/>
          </a:xfrm>
          <a:prstGeom prst="rect">
            <a:avLst/>
          </a:prstGeom>
          <a:solidFill>
            <a:srgbClr val="2A6B6B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4572000"/>
        </p:xfrm>
        <a:graphic>
          <a:graphicData uri="http://schemas.openxmlformats.org/drawingml/2006/table">
            <a:tbl>
              <a:tblPr/>
              <a:tblGrid>
                <a:gridCol w="3241040"/>
                <a:gridCol w="4124960"/>
                <a:gridCol w="3683000"/>
                <a:gridCol w="3683000"/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Approach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How It Works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Strengths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Weaknesses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4B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Rule-Based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Fixed conditions and thresholds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Simple to implement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 reliable in real-world conditions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Single Sensor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Uses one sensor type only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Low cost, easy setup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Limited information, poor differentiation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1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Multi-Sensor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Combines multiple sensors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More environmental information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Still relies on simple logic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Machine Learning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Learns patterns from data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Handles complex inputs, improves over time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Needs quality training data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1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IoT Real-Time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Continuous cloud-based collection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Cost-effective, automatic storage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Depends on network stability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62000" y="6350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A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Approach: The Best of All Worlds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2000" y="6858000"/>
            <a:ext cx="14732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Combines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multiple sensors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(PIR, LDR, DHT22, Ultrasonic) for rich environmental data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Uses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machine learning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(Random Forest) to learn patterns instead of fixed rules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Leverages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IoT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(ESP32 + WiFi + Google Sheets) for real-time, automatic data collection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Result: a system that is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accurate, low-cost, privacy-friendly, and practical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b="1" dirty="0">
                <a:solidFill>
                  <a:srgbClr val="FFFFFF">
                    <a:alpha val="1254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4572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5461000"/>
            <a:ext cx="1016000" cy="5080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571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Hardware, software, data flow, and machine learning implementation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1F4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143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  |   LITERATURE   |   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  |   RESULTS   |   CONCLUSION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318000" y="406400"/>
            <a:ext cx="1397000" cy="5080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1F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Hardware Components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270000"/>
            <a:ext cx="762000" cy="5080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524000"/>
            <a:ext cx="6858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A6B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ESP32 Microcontroller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Central controller with built-in WiFi. Reads all sensors, processes data, sends to cloud. Operates at 3.3V.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A6B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PIR Sensor (HC-SR501)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Detects human motion. Range: 3-7m, Angle: 120°, Digital output (0/1).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A6B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LDR Sensor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Measures light intensity. Analog output 0-4095. Light ON ~960-975, OFF ~1065-1089.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5588000"/>
            <a:ext cx="6858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A6B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DHT22 Sensor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Temp: -40°C to 80°C (±0.5°C). Humidity: 0-100% (±2-5%).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A6B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Ultrasonic HC-SR04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Distance: 2-400cm (practical: 20-300cm). Accuracy: ±3mm. Key for bed/chair/outside detection.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A6B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Power &amp; Connectivity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USB power bank makes the system portable and independent.</a:t>
            </a:r>
            <a:endParaRPr lang="en-US" sz="1800" dirty="0"/>
          </a:p>
        </p:txBody>
      </p:sp>
      <p:pic>
        <p:nvPicPr>
          <p:cNvPr id="9" name="Image 0" descr="https://kimi-img.moonshot.cn/pub/slides/okc/gnlesqjpbn4mk/mnt/agents/output/smart_room_ppt/images/image6.png">    </p:cNvPr>
          <p:cNvPicPr>
            <a:picLocks noChangeAspect="1"/>
          </p:cNvPicPr>
          <p:nvPr/>
        </p:nvPicPr>
        <p:blipFill>
          <a:blip r:embed="rId1"/>
          <a:srcRect l="0" r="0" t="-5580" b="-5580"/>
          <a:stretch/>
        </p:blipFill>
        <p:spPr>
          <a:xfrm>
            <a:off x="8128000" y="1524000"/>
            <a:ext cx="7366000" cy="5080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1F4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143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  |   LITERATURE   |   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  |   RESULTS   |   CONCLUSION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318000" y="406400"/>
            <a:ext cx="1397000" cy="5080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1F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Software Tools &amp; Data Flow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270000"/>
            <a:ext cx="762000" cy="50800"/>
          </a:xfrm>
          <a:prstGeom prst="rect">
            <a:avLst/>
          </a:prstGeom>
          <a:solidFill>
            <a:srgbClr val="2A6B6B"/>
          </a:solidFill>
          <a:ln/>
        </p:spPr>
      </p:sp>
      <p:pic>
        <p:nvPicPr>
          <p:cNvPr id="7" name="Image 0" descr="https://kimi-img.moonshot.cn/pub/slides/okc/gnlesqjpbn4mk/mnt/agents/output/smart_room_ppt/images/image5.png">    </p:cNvPr>
          <p:cNvPicPr>
            <a:picLocks noChangeAspect="1"/>
          </p:cNvPicPr>
          <p:nvPr/>
        </p:nvPicPr>
        <p:blipFill>
          <a:blip r:embed="rId1"/>
          <a:srcRect l="-15770" r="-15770" t="0" b="0"/>
          <a:stretch/>
        </p:blipFill>
        <p:spPr>
          <a:xfrm>
            <a:off x="762000" y="1524000"/>
            <a:ext cx="8890000" cy="3556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160000" y="1524000"/>
            <a:ext cx="533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A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Software Stack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160000" y="2032000"/>
            <a:ext cx="5334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A6B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Arduino IDE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ESP32 programming: sensor reading, WiFi, HTTP requests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A6B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Google Sheets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Cloud database with automatic row insertion via Apps Script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A6B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Python + Libraries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Pandas (data), Scikit-learn (ML), Matplotlib (graphs)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62000" y="5334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A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Workflow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2000" y="5905500"/>
            <a:ext cx="2159000" cy="889000"/>
          </a:xfrm>
          <a:prstGeom prst="rect">
            <a:avLst/>
          </a:prstGeom>
          <a:solidFill>
            <a:srgbClr val="1B1F4B"/>
          </a:solidFill>
          <a:ln/>
        </p:spPr>
      </p:sp>
      <p:sp>
        <p:nvSpPr>
          <p:cNvPr id="12" name="Text 9"/>
          <p:cNvSpPr/>
          <p:nvPr/>
        </p:nvSpPr>
        <p:spPr>
          <a:xfrm>
            <a:off x="762000" y="5905500"/>
            <a:ext cx="215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Sensors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 Data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921000" y="6286500"/>
            <a:ext cx="381000" cy="0"/>
          </a:xfrm>
          <a:prstGeom prst="straightConnector1">
            <a:avLst/>
          </a:prstGeom>
          <a:noFill/>
          <a:ln w="25400">
            <a:solidFill>
              <a:srgbClr val="2A6B6B"/>
            </a:solidFill>
            <a:prstDash val="solid"/>
            <a:headEnd type="none"/>
            <a:tailEnd type="arrow"/>
          </a:ln>
        </p:spPr>
      </p:sp>
      <p:sp>
        <p:nvSpPr>
          <p:cNvPr id="14" name="Shape 11"/>
          <p:cNvSpPr/>
          <p:nvPr/>
        </p:nvSpPr>
        <p:spPr>
          <a:xfrm>
            <a:off x="3302000" y="5905500"/>
            <a:ext cx="2159000" cy="889000"/>
          </a:xfrm>
          <a:prstGeom prst="rect">
            <a:avLst/>
          </a:prstGeom>
          <a:solidFill>
            <a:srgbClr val="1B1F4B"/>
          </a:solidFill>
          <a:ln/>
        </p:spPr>
      </p:sp>
      <p:sp>
        <p:nvSpPr>
          <p:cNvPr id="15" name="Text 12"/>
          <p:cNvSpPr/>
          <p:nvPr/>
        </p:nvSpPr>
        <p:spPr>
          <a:xfrm>
            <a:off x="3302000" y="5905500"/>
            <a:ext cx="215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ESP32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+ WiFi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61000" y="6286500"/>
            <a:ext cx="381000" cy="0"/>
          </a:xfrm>
          <a:prstGeom prst="straightConnector1">
            <a:avLst/>
          </a:prstGeom>
          <a:noFill/>
          <a:ln w="25400">
            <a:solidFill>
              <a:srgbClr val="2A6B6B"/>
            </a:solidFill>
            <a:prstDash val="solid"/>
            <a:headEnd type="none"/>
            <a:tailEnd type="arrow"/>
          </a:ln>
        </p:spPr>
      </p:sp>
      <p:sp>
        <p:nvSpPr>
          <p:cNvPr id="17" name="Shape 14"/>
          <p:cNvSpPr/>
          <p:nvPr/>
        </p:nvSpPr>
        <p:spPr>
          <a:xfrm>
            <a:off x="5842000" y="5905500"/>
            <a:ext cx="2159000" cy="889000"/>
          </a:xfrm>
          <a:prstGeom prst="rect">
            <a:avLst/>
          </a:prstGeom>
          <a:solidFill>
            <a:srgbClr val="1B1F4B"/>
          </a:solidFill>
          <a:ln/>
        </p:spPr>
      </p:sp>
      <p:sp>
        <p:nvSpPr>
          <p:cNvPr id="18" name="Text 15"/>
          <p:cNvSpPr/>
          <p:nvPr/>
        </p:nvSpPr>
        <p:spPr>
          <a:xfrm>
            <a:off x="5842000" y="5905500"/>
            <a:ext cx="215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Sheets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 Data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01000" y="6286500"/>
            <a:ext cx="381000" cy="0"/>
          </a:xfrm>
          <a:prstGeom prst="straightConnector1">
            <a:avLst/>
          </a:prstGeom>
          <a:noFill/>
          <a:ln w="25400">
            <a:solidFill>
              <a:srgbClr val="2A6B6B"/>
            </a:solidFill>
            <a:prstDash val="solid"/>
            <a:headEnd type="none"/>
            <a:tailEnd type="arrow"/>
          </a:ln>
        </p:spPr>
      </p:sp>
      <p:sp>
        <p:nvSpPr>
          <p:cNvPr id="20" name="Shape 17"/>
          <p:cNvSpPr/>
          <p:nvPr/>
        </p:nvSpPr>
        <p:spPr>
          <a:xfrm>
            <a:off x="8382000" y="5905500"/>
            <a:ext cx="2159000" cy="88900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21" name="Text 18"/>
          <p:cNvSpPr/>
          <p:nvPr/>
        </p:nvSpPr>
        <p:spPr>
          <a:xfrm>
            <a:off x="8382000" y="5905500"/>
            <a:ext cx="215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Model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0541000" y="6286500"/>
            <a:ext cx="381000" cy="0"/>
          </a:xfrm>
          <a:prstGeom prst="straightConnector1">
            <a:avLst/>
          </a:prstGeom>
          <a:noFill/>
          <a:ln w="25400">
            <a:solidFill>
              <a:srgbClr val="2A6B6B"/>
            </a:solidFill>
            <a:prstDash val="solid"/>
            <a:headEnd type="none"/>
            <a:tailEnd type="arrow"/>
          </a:ln>
        </p:spPr>
      </p:sp>
      <p:sp>
        <p:nvSpPr>
          <p:cNvPr id="23" name="Shape 20"/>
          <p:cNvSpPr/>
          <p:nvPr/>
        </p:nvSpPr>
        <p:spPr>
          <a:xfrm>
            <a:off x="10922000" y="5905500"/>
            <a:ext cx="2159000" cy="88900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24" name="Text 21"/>
          <p:cNvSpPr/>
          <p:nvPr/>
        </p:nvSpPr>
        <p:spPr>
          <a:xfrm>
            <a:off x="10922000" y="5905500"/>
            <a:ext cx="215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Graphs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1F4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143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  |   LITERATURE   |   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  |   RESULTS   |   CONCLUSION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318000" y="406400"/>
            <a:ext cx="1397000" cy="5080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1F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Collection &amp; Processing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270000"/>
            <a:ext cx="762000" cy="5080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524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A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Data Collection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032000"/>
            <a:ext cx="7112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Sensors read values at regular intervals automatically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Each entry includes: Time, Motion, Light, Temperature, Humidity, Distance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ESP32 sends data to Google Sheets via HTTP using WiFi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Google Apps Script API adds rows automatically — no manual entry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Power bank makes the system portable for long-term collection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4826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A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Preprocessing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53086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Remove missing or incorrect sensor values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Convert timestamps into useful features: hour and day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Organize data into structured format for ML training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Normalize values if required for model stability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Label data based on observed activities: Bed, Chair, Kitchen, Outside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82000" y="1524000"/>
            <a:ext cx="7112000" cy="6096000"/>
          </a:xfrm>
          <a:prstGeom prst="rect">
            <a:avLst/>
          </a:prstGeom>
          <a:solidFill>
            <a:srgbClr val="EAE8E1"/>
          </a:solidFill>
          <a:ln/>
        </p:spPr>
      </p:sp>
      <p:sp>
        <p:nvSpPr>
          <p:cNvPr id="12" name="Text 10"/>
          <p:cNvSpPr/>
          <p:nvPr/>
        </p:nvSpPr>
        <p:spPr>
          <a:xfrm>
            <a:off x="8763000" y="1778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1F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Structure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763000" y="2260600"/>
            <a:ext cx="6350000" cy="25400"/>
          </a:xfrm>
          <a:prstGeom prst="rect">
            <a:avLst/>
          </a:prstGeom>
          <a:solidFill>
            <a:srgbClr val="D1CFC7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763000" y="2476500"/>
          <a:ext cx="6350000" cy="3556000"/>
        </p:xfrm>
        <a:graphic>
          <a:graphicData uri="http://schemas.openxmlformats.org/drawingml/2006/table">
            <a:tbl>
              <a:tblPr/>
              <a:tblGrid>
                <a:gridCol w="2222500"/>
                <a:gridCol w="2222500"/>
                <a:gridCol w="190500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Field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Source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4B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Timestamp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ESP32 RTC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Digital (0/1)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PIR Sensor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1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Light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Analog (0-4095)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LDR Sensor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Temperature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Celsius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DHT22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1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Humidity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Percentage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DHT22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Distance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Centimeters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Ultrasonic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8E1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Hour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Feature (0-23)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2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Derived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8763000" y="6223000"/>
            <a:ext cx="635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i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data is collected in real-world conditions, making the dataset more realistic than pre-existing datasets used in many research projects.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1F4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143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  |   LITERATURE   |   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  |   RESULTS   |   CONCLUSION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318000" y="406400"/>
            <a:ext cx="1397000" cy="5080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1F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Machine Learning Model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270000"/>
            <a:ext cx="762000" cy="5080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524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A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Model: Random Forest Classifier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057400"/>
            <a:ext cx="7112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Chosen for its strength with multiple input features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Handles complex, non-linear relationships well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Provides good accuracy for classification problems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Dataset split into training and testing sets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Model learns patterns from 6 input features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Trained model saved for future predictions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5207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A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Features (6)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5715000"/>
            <a:ext cx="7112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PIR sensor digital output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Light Intensity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LDR analog reading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Temperature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DHT22 Celsius value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Humidity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DHT22 percentage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Distance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Ultrasonic cm measurement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Hour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Time feature from timestamp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82000" y="1524000"/>
            <a:ext cx="7112000" cy="6858000"/>
          </a:xfrm>
          <a:prstGeom prst="rect">
            <a:avLst/>
          </a:prstGeom>
          <a:solidFill>
            <a:srgbClr val="EAE8E1"/>
          </a:solidFill>
          <a:ln/>
        </p:spPr>
      </p:sp>
      <p:sp>
        <p:nvSpPr>
          <p:cNvPr id="12" name="Text 10"/>
          <p:cNvSpPr/>
          <p:nvPr/>
        </p:nvSpPr>
        <p:spPr>
          <a:xfrm>
            <a:off x="8763000" y="1778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1F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Activity Classification Logic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763000" y="2260600"/>
            <a:ext cx="6350000" cy="25400"/>
          </a:xfrm>
          <a:prstGeom prst="rect">
            <a:avLst/>
          </a:prstGeom>
          <a:solidFill>
            <a:srgbClr val="D1CFC7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0" y="2476500"/>
            <a:ext cx="635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A6B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Bed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Low motion + stable short distance + lights off + nighttime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A6B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Chair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Moderate motion + varying distance + lights on + any time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A6B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Kitchen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Meal-time patterns + motion + moderate distance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A6B6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Outside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motion + large distance + no light changes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i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Combining all six features improves reliability and allows better differentiation between similar activities.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b="1" dirty="0">
                <a:solidFill>
                  <a:srgbClr val="FFFFFF">
                    <a:alpha val="1254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4572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5461000"/>
            <a:ext cx="1016000" cy="5080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571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Environmental data, activity patterns, and machine learning performance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1F4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143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  |   LITERATURE   |   METHODOLOGY   |   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  |   CONCLUSION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350000" y="406400"/>
            <a:ext cx="1016000" cy="5080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7112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1F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Environmental &amp; Activity Analysis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270000"/>
            <a:ext cx="762000" cy="5080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498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A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Room Environment</a:t>
            </a:r>
            <a:endParaRPr lang="en-US" sz="1600" dirty="0"/>
          </a:p>
        </p:txBody>
      </p:sp>
      <p:pic>
        <p:nvPicPr>
          <p:cNvPr id="8" name="Image 0" descr="https://kimi-img.moonshot.cn/pub/slides/okc/gnlesqjpbn4mk/mnt/agents/output/smart_room_ppt/images/image7.jpeg">    </p:cNvPr>
          <p:cNvPicPr>
            <a:picLocks noChangeAspect="1"/>
          </p:cNvPicPr>
          <p:nvPr/>
        </p:nvPicPr>
        <p:blipFill>
          <a:blip r:embed="rId1"/>
          <a:srcRect l="-21735" r="-21735" t="0" b="0"/>
          <a:stretch/>
        </p:blipFill>
        <p:spPr>
          <a:xfrm>
            <a:off x="762000" y="1930400"/>
            <a:ext cx="4826000" cy="2286000"/>
          </a:xfrm>
          <a:prstGeom prst="rect">
            <a:avLst/>
          </a:prstGeom>
        </p:spPr>
      </p:pic>
      <p:pic>
        <p:nvPicPr>
          <p:cNvPr id="9" name="Image 1" descr="https://kimi-img.moonshot.cn/pub/slides/okc/gnlesqjpbn4mk/mnt/agents/output/smart_room_ppt/images/image8.jpeg">    </p:cNvPr>
          <p:cNvPicPr>
            <a:picLocks noChangeAspect="1"/>
          </p:cNvPicPr>
          <p:nvPr/>
        </p:nvPicPr>
        <p:blipFill>
          <a:blip r:embed="rId2"/>
          <a:srcRect l="-21735" r="-21735" t="0" b="0"/>
          <a:stretch/>
        </p:blipFill>
        <p:spPr>
          <a:xfrm>
            <a:off x="5842000" y="1930400"/>
            <a:ext cx="4826000" cy="2286000"/>
          </a:xfrm>
          <a:prstGeom prst="rect">
            <a:avLst/>
          </a:prstGeom>
        </p:spPr>
      </p:pic>
      <p:pic>
        <p:nvPicPr>
          <p:cNvPr id="10" name="Image 2" descr="https://kimi-img.moonshot.cn/pub/slides/okc/gnlesqjpbn4mk/mnt/agents/output/smart_room_ppt/images/image9.jpeg">    </p:cNvPr>
          <p:cNvPicPr>
            <a:picLocks noChangeAspect="1"/>
          </p:cNvPicPr>
          <p:nvPr/>
        </p:nvPicPr>
        <p:blipFill>
          <a:blip r:embed="rId3"/>
          <a:srcRect l="-19231" r="-19231" t="0" b="0"/>
          <a:stretch/>
        </p:blipFill>
        <p:spPr>
          <a:xfrm>
            <a:off x="10922000" y="1930400"/>
            <a:ext cx="4572000" cy="2286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2000" y="4318000"/>
            <a:ext cx="1473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Temperature: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Lowest 28-29°C early morning, peaks 33-34°C evening — follows natural daily cycle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Humidity: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Inverse trend, 53-54% morning to 48-49% evening — confirms real-world conditions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Light: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Sharp ON/OFF transitions help identify active vs sleeping periods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762000" y="558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A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Activity Distribution</a:t>
            </a:r>
            <a:endParaRPr lang="en-US" sz="1600" dirty="0"/>
          </a:p>
        </p:txBody>
      </p:sp>
      <p:pic>
        <p:nvPicPr>
          <p:cNvPr id="13" name="Image 3" descr="https://kimi-img.moonshot.cn/pub/slides/okc/gnlesqjpbn4mk/mnt/agents/output/smart_room_ppt/images/image13.jpeg">    </p:cNvPr>
          <p:cNvPicPr>
            <a:picLocks noChangeAspect="1"/>
          </p:cNvPicPr>
          <p:nvPr/>
        </p:nvPicPr>
        <p:blipFill>
          <a:blip r:embed="rId4"/>
          <a:srcRect l="-26866" r="-26866" t="0" b="0"/>
          <a:stretch/>
        </p:blipFill>
        <p:spPr>
          <a:xfrm>
            <a:off x="762000" y="6019800"/>
            <a:ext cx="6350000" cy="2413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93000" y="6019800"/>
            <a:ext cx="8001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Room: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Maximum time spent here, high presence at night and early morning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Kitchen: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Limited usage, mostly during morning or meal times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Outside: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Increases during day and evening, minimal at night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Activity distribution matches a realistic daily routine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System successfully captures natural human behavior patterns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1F4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143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  |   LITERATURE   |   METHODOLOGY   |   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  |   CONCLUSION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350000" y="406400"/>
            <a:ext cx="1016000" cy="5080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1F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ML Performance &amp; Key Observations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270000"/>
            <a:ext cx="762000" cy="5080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524000"/>
            <a:ext cx="3810000" cy="1778000"/>
          </a:xfrm>
          <a:prstGeom prst="rect">
            <a:avLst/>
          </a:prstGeom>
          <a:solidFill>
            <a:srgbClr val="1B1F4B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651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Accuracy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095500"/>
            <a:ext cx="381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76-79%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048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 Classifier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53000" y="1524000"/>
            <a:ext cx="3810000" cy="177800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4953000" y="1651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Activities Classified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53000" y="2095500"/>
            <a:ext cx="381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53000" y="3048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Bed, Chair, Kitchen, Outside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0" y="1524000"/>
            <a:ext cx="3810000" cy="1778000"/>
          </a:xfrm>
          <a:prstGeom prst="rect">
            <a:avLst/>
          </a:prstGeom>
          <a:solidFill>
            <a:srgbClr val="1B1F4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0" y="1651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Features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0" y="2095500"/>
            <a:ext cx="381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0" y="3048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Motion, Light, Temp, Humidity, Distance, Hour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3683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A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Observations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4191000"/>
            <a:ext cx="7112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Temperature and humidity follow natural daily patterns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Light intensity clearly indicates active and inactive periods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Distance and motion are the most important features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System captures realistic human behavior over multiple days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Activity distribution graphs match expected daily routines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82000" y="3683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A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2000" y="4191000"/>
            <a:ext cx="7112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Sensor noise can occasionally affect readings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Similar activities (bed vs chair) may sometimes overlap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Accuracy depends on quality and quantity of training data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Real-time delay may affect detection of fast motion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Scope limited to controlled indoor environment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62000" y="7239000"/>
            <a:ext cx="14732000" cy="1016000"/>
          </a:xfrm>
          <a:prstGeom prst="rect">
            <a:avLst/>
          </a:prstGeom>
          <a:solidFill>
            <a:srgbClr val="EAE8E1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000" y="7239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Result: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system successfully integrates IoT and machine learning for real-time activity monitoring with accurate prediction and meaningful visualization — meeting all project objectives.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1F4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143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  |   LITERATURE   |   METHODOLOGY   |   RESULTS   |   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128000" y="406400"/>
            <a:ext cx="1270000" cy="5080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1F4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270000"/>
            <a:ext cx="762000" cy="5080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524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A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057400"/>
            <a:ext cx="7112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Successfully developed a complete IoT + ML monitoring system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ESP32 collects real-time data from all sensors continuously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Data transmitted to Google Sheets via WiFi without a laptop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Random Forest achieved 76-79% accuracy classifying 4 activities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Graphical analysis revealed daily behavior and environmental trends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Project demonstrates practical hardware-software-ML integration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0" y="1524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A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82000" y="2057400"/>
            <a:ext cx="7112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Add advanced sensors: gas, sound, or camera for higher accuracy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Use deep learning models with larger datasets to reduce errors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Develop a mobile or web app for real-time data and predictions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Extend to smart home automation and elderly health monitoring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Add real-time alerts for unusual activity or emergencies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2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Scale to larger environments and multiple rooms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6223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A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Applications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6794500"/>
            <a:ext cx="3429000" cy="1524000"/>
          </a:xfrm>
          <a:prstGeom prst="rect">
            <a:avLst/>
          </a:prstGeom>
          <a:solidFill>
            <a:srgbClr val="EAE8E1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6959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2659" y="5973"/>
                </a:moveTo>
                <a:cubicBezTo>
                  <a:pt x="171202" y="-1945"/>
                  <a:pt x="184398" y="-1945"/>
                  <a:pt x="192871" y="5973"/>
                </a:cubicBezTo>
                <a:lnTo>
                  <a:pt x="255587" y="64105"/>
                </a:lnTo>
                <a:lnTo>
                  <a:pt x="255587" y="55563"/>
                </a:lnTo>
                <a:cubicBezTo>
                  <a:pt x="255587" y="43269"/>
                  <a:pt x="265519" y="33337"/>
                  <a:pt x="277813" y="33337"/>
                </a:cubicBezTo>
                <a:lnTo>
                  <a:pt x="300038" y="33337"/>
                </a:lnTo>
                <a:cubicBezTo>
                  <a:pt x="312331" y="33337"/>
                  <a:pt x="322263" y="43269"/>
                  <a:pt x="322263" y="55563"/>
                </a:cubicBezTo>
                <a:lnTo>
                  <a:pt x="322263" y="126057"/>
                </a:lnTo>
                <a:lnTo>
                  <a:pt x="348516" y="150435"/>
                </a:lnTo>
                <a:cubicBezTo>
                  <a:pt x="355183" y="156686"/>
                  <a:pt x="357406" y="166340"/>
                  <a:pt x="354072" y="174814"/>
                </a:cubicBezTo>
                <a:cubicBezTo>
                  <a:pt x="350738" y="183287"/>
                  <a:pt x="342543" y="188913"/>
                  <a:pt x="333375" y="188913"/>
                </a:cubicBezTo>
                <a:lnTo>
                  <a:pt x="322263" y="188913"/>
                </a:lnTo>
                <a:lnTo>
                  <a:pt x="322263" y="311150"/>
                </a:lnTo>
                <a:cubicBezTo>
                  <a:pt x="322263" y="335667"/>
                  <a:pt x="302329" y="355600"/>
                  <a:pt x="277813" y="355600"/>
                </a:cubicBezTo>
                <a:lnTo>
                  <a:pt x="77788" y="355600"/>
                </a:lnTo>
                <a:cubicBezTo>
                  <a:pt x="53271" y="355600"/>
                  <a:pt x="33337" y="335667"/>
                  <a:pt x="33337" y="311150"/>
                </a:cubicBezTo>
                <a:lnTo>
                  <a:pt x="33337" y="188913"/>
                </a:lnTo>
                <a:lnTo>
                  <a:pt x="22225" y="188913"/>
                </a:lnTo>
                <a:cubicBezTo>
                  <a:pt x="13057" y="188913"/>
                  <a:pt x="4862" y="183287"/>
                  <a:pt x="1528" y="174814"/>
                </a:cubicBezTo>
                <a:cubicBezTo>
                  <a:pt x="-1806" y="166340"/>
                  <a:pt x="417" y="156617"/>
                  <a:pt x="7084" y="150435"/>
                </a:cubicBezTo>
                <a:lnTo>
                  <a:pt x="162659" y="5973"/>
                </a:lnTo>
                <a:close/>
                <a:moveTo>
                  <a:pt x="166688" y="222250"/>
                </a:moveTo>
                <a:cubicBezTo>
                  <a:pt x="148282" y="222250"/>
                  <a:pt x="133350" y="237182"/>
                  <a:pt x="133350" y="255587"/>
                </a:cubicBezTo>
                <a:lnTo>
                  <a:pt x="133350" y="322263"/>
                </a:lnTo>
                <a:lnTo>
                  <a:pt x="222250" y="322263"/>
                </a:lnTo>
                <a:lnTo>
                  <a:pt x="222250" y="255587"/>
                </a:lnTo>
                <a:cubicBezTo>
                  <a:pt x="222250" y="237182"/>
                  <a:pt x="207318" y="222250"/>
                  <a:pt x="188913" y="222250"/>
                </a:cubicBezTo>
                <a:lnTo>
                  <a:pt x="166688" y="222250"/>
                </a:lnTo>
                <a:close/>
              </a:path>
            </a:pathLst>
          </a:custGeom>
          <a:solidFill>
            <a:srgbClr val="2A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1498600" y="6921500"/>
            <a:ext cx="254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Homes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lighting, climate control, and security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45000" y="6794500"/>
            <a:ext cx="3429000" cy="1524000"/>
          </a:xfrm>
          <a:prstGeom prst="rect">
            <a:avLst/>
          </a:prstGeom>
          <a:solidFill>
            <a:srgbClr val="EAE8E1"/>
          </a:solidFill>
          <a:ln/>
        </p:spPr>
      </p:sp>
      <p:sp>
        <p:nvSpPr>
          <p:cNvPr id="16" name="Shape 14"/>
          <p:cNvSpPr/>
          <p:nvPr/>
        </p:nvSpPr>
        <p:spPr>
          <a:xfrm>
            <a:off x="4699000" y="6959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74940"/>
                </a:moveTo>
                <a:lnTo>
                  <a:pt x="167382" y="60494"/>
                </a:lnTo>
                <a:cubicBezTo>
                  <a:pt x="150019" y="36463"/>
                  <a:pt x="122168" y="22225"/>
                  <a:pt x="92442" y="22225"/>
                </a:cubicBezTo>
                <a:cubicBezTo>
                  <a:pt x="41394" y="22225"/>
                  <a:pt x="0" y="63619"/>
                  <a:pt x="0" y="114667"/>
                </a:cubicBezTo>
                <a:lnTo>
                  <a:pt x="0" y="116473"/>
                </a:lnTo>
                <a:cubicBezTo>
                  <a:pt x="0" y="132864"/>
                  <a:pt x="4306" y="149810"/>
                  <a:pt x="11529" y="166688"/>
                </a:cubicBezTo>
                <a:lnTo>
                  <a:pt x="85150" y="166688"/>
                </a:lnTo>
                <a:cubicBezTo>
                  <a:pt x="87372" y="166688"/>
                  <a:pt x="89386" y="165368"/>
                  <a:pt x="90289" y="163284"/>
                </a:cubicBezTo>
                <a:lnTo>
                  <a:pt x="112375" y="110292"/>
                </a:lnTo>
                <a:cubicBezTo>
                  <a:pt x="114945" y="104180"/>
                  <a:pt x="120918" y="100151"/>
                  <a:pt x="127516" y="100013"/>
                </a:cubicBezTo>
                <a:cubicBezTo>
                  <a:pt x="134114" y="99874"/>
                  <a:pt x="140226" y="103763"/>
                  <a:pt x="142935" y="109805"/>
                </a:cubicBezTo>
                <a:lnTo>
                  <a:pt x="178564" y="188913"/>
                </a:lnTo>
                <a:lnTo>
                  <a:pt x="207318" y="131405"/>
                </a:lnTo>
                <a:cubicBezTo>
                  <a:pt x="210165" y="125780"/>
                  <a:pt x="215930" y="122168"/>
                  <a:pt x="222250" y="122168"/>
                </a:cubicBezTo>
                <a:cubicBezTo>
                  <a:pt x="228570" y="122168"/>
                  <a:pt x="234335" y="125710"/>
                  <a:pt x="237182" y="131405"/>
                </a:cubicBezTo>
                <a:lnTo>
                  <a:pt x="253296" y="163562"/>
                </a:lnTo>
                <a:cubicBezTo>
                  <a:pt x="254268" y="165437"/>
                  <a:pt x="256143" y="166618"/>
                  <a:pt x="258296" y="166618"/>
                </a:cubicBezTo>
                <a:lnTo>
                  <a:pt x="344140" y="166618"/>
                </a:lnTo>
                <a:cubicBezTo>
                  <a:pt x="351433" y="149741"/>
                  <a:pt x="355669" y="132794"/>
                  <a:pt x="355669" y="116403"/>
                </a:cubicBezTo>
                <a:lnTo>
                  <a:pt x="355669" y="114598"/>
                </a:lnTo>
                <a:cubicBezTo>
                  <a:pt x="355600" y="63619"/>
                  <a:pt x="314206" y="22225"/>
                  <a:pt x="263158" y="22225"/>
                </a:cubicBezTo>
                <a:cubicBezTo>
                  <a:pt x="233501" y="22225"/>
                  <a:pt x="205581" y="36463"/>
                  <a:pt x="188218" y="60494"/>
                </a:cubicBezTo>
                <a:lnTo>
                  <a:pt x="177800" y="74870"/>
                </a:lnTo>
                <a:close/>
                <a:moveTo>
                  <a:pt x="326152" y="200025"/>
                </a:moveTo>
                <a:lnTo>
                  <a:pt x="258227" y="200025"/>
                </a:lnTo>
                <a:cubicBezTo>
                  <a:pt x="243503" y="200025"/>
                  <a:pt x="230029" y="191691"/>
                  <a:pt x="223431" y="178495"/>
                </a:cubicBezTo>
                <a:lnTo>
                  <a:pt x="222250" y="176133"/>
                </a:lnTo>
                <a:lnTo>
                  <a:pt x="192732" y="235238"/>
                </a:lnTo>
                <a:cubicBezTo>
                  <a:pt x="189885" y="241002"/>
                  <a:pt x="183912" y="244614"/>
                  <a:pt x="177453" y="244475"/>
                </a:cubicBezTo>
                <a:cubicBezTo>
                  <a:pt x="170994" y="244336"/>
                  <a:pt x="165229" y="240516"/>
                  <a:pt x="162590" y="234682"/>
                </a:cubicBezTo>
                <a:lnTo>
                  <a:pt x="128349" y="158631"/>
                </a:lnTo>
                <a:lnTo>
                  <a:pt x="121057" y="176133"/>
                </a:lnTo>
                <a:cubicBezTo>
                  <a:pt x="115014" y="190649"/>
                  <a:pt x="100846" y="200094"/>
                  <a:pt x="85150" y="200094"/>
                </a:cubicBezTo>
                <a:lnTo>
                  <a:pt x="29448" y="200094"/>
                </a:lnTo>
                <a:cubicBezTo>
                  <a:pt x="62230" y="251351"/>
                  <a:pt x="114875" y="298510"/>
                  <a:pt x="147796" y="323652"/>
                </a:cubicBezTo>
                <a:cubicBezTo>
                  <a:pt x="156408" y="330180"/>
                  <a:pt x="166965" y="333444"/>
                  <a:pt x="177731" y="333444"/>
                </a:cubicBezTo>
                <a:cubicBezTo>
                  <a:pt x="188496" y="333444"/>
                  <a:pt x="199122" y="330250"/>
                  <a:pt x="207665" y="323652"/>
                </a:cubicBezTo>
                <a:cubicBezTo>
                  <a:pt x="240725" y="298440"/>
                  <a:pt x="293370" y="251281"/>
                  <a:pt x="326152" y="200025"/>
                </a:cubicBezTo>
                <a:close/>
              </a:path>
            </a:pathLst>
          </a:custGeom>
          <a:solidFill>
            <a:srgbClr val="2A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5181600" y="6921500"/>
            <a:ext cx="254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Elderly Care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 monitoring and fall detection alerts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28000" y="6794500"/>
            <a:ext cx="3429000" cy="1524000"/>
          </a:xfrm>
          <a:prstGeom prst="rect">
            <a:avLst/>
          </a:prstGeom>
          <a:solidFill>
            <a:srgbClr val="EAE8E1"/>
          </a:solidFill>
          <a:ln/>
        </p:spPr>
      </p:sp>
      <p:sp>
        <p:nvSpPr>
          <p:cNvPr id="19" name="Shape 17"/>
          <p:cNvSpPr/>
          <p:nvPr/>
        </p:nvSpPr>
        <p:spPr>
          <a:xfrm>
            <a:off x="8382000" y="6959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2A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8864600" y="6921500"/>
            <a:ext cx="254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Anomaly detection and surveillance systems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811000" y="6794500"/>
            <a:ext cx="3429000" cy="1524000"/>
          </a:xfrm>
          <a:prstGeom prst="rect">
            <a:avLst/>
          </a:prstGeom>
          <a:solidFill>
            <a:srgbClr val="EAE8E1"/>
          </a:solidFill>
          <a:ln/>
        </p:spPr>
      </p:sp>
      <p:sp>
        <p:nvSpPr>
          <p:cNvPr id="22" name="Shape 20"/>
          <p:cNvSpPr/>
          <p:nvPr/>
        </p:nvSpPr>
        <p:spPr>
          <a:xfrm>
            <a:off x="12087225" y="6959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55575" y="0"/>
                </a:moveTo>
                <a:cubicBezTo>
                  <a:pt x="143282" y="0"/>
                  <a:pt x="133350" y="9932"/>
                  <a:pt x="133350" y="22225"/>
                </a:cubicBezTo>
                <a:lnTo>
                  <a:pt x="133350" y="24448"/>
                </a:lnTo>
                <a:cubicBezTo>
                  <a:pt x="82649" y="34727"/>
                  <a:pt x="44450" y="79593"/>
                  <a:pt x="44450" y="133350"/>
                </a:cubicBezTo>
                <a:lnTo>
                  <a:pt x="44450" y="148421"/>
                </a:lnTo>
                <a:cubicBezTo>
                  <a:pt x="44450" y="181828"/>
                  <a:pt x="33060" y="214263"/>
                  <a:pt x="12224" y="240377"/>
                </a:cubicBezTo>
                <a:lnTo>
                  <a:pt x="5417" y="248851"/>
                </a:lnTo>
                <a:cubicBezTo>
                  <a:pt x="1875" y="253226"/>
                  <a:pt x="0" y="258643"/>
                  <a:pt x="0" y="264269"/>
                </a:cubicBezTo>
                <a:cubicBezTo>
                  <a:pt x="0" y="277882"/>
                  <a:pt x="11043" y="288925"/>
                  <a:pt x="24656" y="288925"/>
                </a:cubicBezTo>
                <a:lnTo>
                  <a:pt x="286425" y="288925"/>
                </a:lnTo>
                <a:cubicBezTo>
                  <a:pt x="300038" y="288925"/>
                  <a:pt x="311081" y="277882"/>
                  <a:pt x="311081" y="264269"/>
                </a:cubicBezTo>
                <a:cubicBezTo>
                  <a:pt x="311081" y="258643"/>
                  <a:pt x="309205" y="253226"/>
                  <a:pt x="305663" y="248851"/>
                </a:cubicBezTo>
                <a:lnTo>
                  <a:pt x="298857" y="240377"/>
                </a:lnTo>
                <a:cubicBezTo>
                  <a:pt x="278090" y="214263"/>
                  <a:pt x="266700" y="181828"/>
                  <a:pt x="266700" y="148421"/>
                </a:cubicBezTo>
                <a:lnTo>
                  <a:pt x="266700" y="133350"/>
                </a:lnTo>
                <a:cubicBezTo>
                  <a:pt x="266700" y="79593"/>
                  <a:pt x="228501" y="34727"/>
                  <a:pt x="177800" y="24447"/>
                </a:cubicBezTo>
                <a:lnTo>
                  <a:pt x="177800" y="22225"/>
                </a:lnTo>
                <a:cubicBezTo>
                  <a:pt x="177800" y="9932"/>
                  <a:pt x="167868" y="0"/>
                  <a:pt x="155575" y="0"/>
                </a:cubicBezTo>
                <a:close/>
                <a:moveTo>
                  <a:pt x="112514" y="322263"/>
                </a:moveTo>
                <a:cubicBezTo>
                  <a:pt x="117445" y="341432"/>
                  <a:pt x="134878" y="355600"/>
                  <a:pt x="155575" y="355600"/>
                </a:cubicBezTo>
                <a:cubicBezTo>
                  <a:pt x="176272" y="355600"/>
                  <a:pt x="193705" y="341432"/>
                  <a:pt x="198636" y="322263"/>
                </a:cubicBezTo>
                <a:lnTo>
                  <a:pt x="112514" y="322263"/>
                </a:lnTo>
                <a:close/>
              </a:path>
            </a:pathLst>
          </a:custGeom>
          <a:solidFill>
            <a:srgbClr val="2A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12547600" y="6921500"/>
            <a:ext cx="254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Alerts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Emergency notifications for unusual behavior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01600"/>
          </a:xfrm>
          <a:prstGeom prst="rect">
            <a:avLst/>
          </a:prstGeom>
          <a:solidFill>
            <a:srgbClr val="2A6B6B"/>
          </a:solidFill>
          <a:ln/>
        </p:spPr>
      </p:sp>
      <p:pic>
        <p:nvPicPr>
          <p:cNvPr id="3" name="Image 0" descr="https://kimi-img.moonshot.cn/pub/slides/okc/gnlesqjpbn4mk/mnt/agents/output/smart_room_ppt/images/image1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12000" y="762000"/>
            <a:ext cx="2032000" cy="203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48000" y="3175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spc="400" kern="0" dirty="0">
                <a:solidFill>
                  <a:srgbClr val="1B1F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858000" y="4191000"/>
            <a:ext cx="2540000" cy="38100"/>
          </a:xfrm>
          <a:prstGeom prst="rect">
            <a:avLst/>
          </a:prstGeom>
          <a:solidFill>
            <a:srgbClr val="2A6B6B"/>
          </a:solidFill>
          <a:ln/>
        </p:spPr>
      </p:sp>
      <p:sp>
        <p:nvSpPr>
          <p:cNvPr id="6" name="Text 3"/>
          <p:cNvSpPr/>
          <p:nvPr/>
        </p:nvSpPr>
        <p:spPr>
          <a:xfrm>
            <a:off x="2413000" y="4445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Room Activity Monitoring and Behavior Analysis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2D2D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ESP32 and Machine Learning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683000" y="5715000"/>
            <a:ext cx="889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Hariom Yadav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(23U02083)  | 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Sardul V Pandey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(23U02092)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Supervised by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Dr. Priyankar Choudhary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683000" y="6731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 of Computer Science and Engineering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Indian Institute of Information Technology, Bhopal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953000" y="7620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2A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Room Activity Monitoring and Behavior Analysis using ESP32 and Machine Learning</dc:title>
  <dc:subject>Smart Room Activity Monitoring and Behavior Analysis using ESP32 and Machine Learning</dc:subject>
  <dc:creator>Kimi</dc:creator>
  <cp:lastModifiedBy>Kimi</cp:lastModifiedBy>
  <cp:revision>1</cp:revision>
  <dcterms:created xsi:type="dcterms:W3CDTF">2026-04-28T18:37:34Z</dcterms:created>
  <dcterms:modified xsi:type="dcterms:W3CDTF">2026-04-28T18:37:34Z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{"Label":"Smart Room Activity Monitoring and Behavior Analysis using ESP32 and Machine Learning","ContentProducer":"001191110108MACG2KBH8F10000","ProduceID":"19dd55fa-9142-8b14-8000-00005c71cd98","ReservedCode1":"","ContentPropagator":"001191110108MACG2KBH8F20000","PropagateID":"19dd55fa-9142-8b14-8000-00005c71cd98","ReservedCode2":""}</vt:lpwstr>
  </property>
</Properties>
</file>